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1B72B0-798A-450E-9201-DB03A6C07837}">
  <a:tblStyle styleId="{221B72B0-798A-450E-9201-DB03A6C078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unito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MavenPr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df7e0f5b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df7e0f5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df7e0f5b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df7e0f5b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df7e0f5b6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df7e0f5b6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df7e0f5b6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df7e0f5b6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df7e0f5b6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9df7e0f5b6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accent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698850"/>
            <a:ext cx="4672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Splash Technologies: </a:t>
            </a:r>
            <a:r>
              <a:rPr lang="en-CA"/>
              <a:t>Gender Pay Equity Analysis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2571750"/>
            <a:ext cx="44703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Departmental Pay Disparities and Performance-Based Compensation Alignment</a:t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824000" y="4101975"/>
            <a:ext cx="447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Leticia Mie Otani, People Analytics Consultant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</a:rPr>
              <a:t>Problem Statement &amp; Hypothesis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597875"/>
            <a:ext cx="7030500" cy="29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200">
                <a:solidFill>
                  <a:schemeClr val="lt1"/>
                </a:solidFill>
              </a:rPr>
              <a:t>Problem State</a:t>
            </a:r>
            <a:r>
              <a:rPr b="1" lang="en-CA" sz="1200">
                <a:solidFill>
                  <a:schemeClr val="lt1"/>
                </a:solidFill>
              </a:rPr>
              <a:t>ment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</a:rPr>
              <a:t>Splash Technologies demonstrates strong leadership diversity; however, pay equity remains inconsistent across departments. Preliminary analysis revealed gender-based salary disparities that, while modest overall, vary significantly by function.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200">
                <a:solidFill>
                  <a:schemeClr val="lt1"/>
                </a:solidFill>
              </a:rPr>
              <a:t>Hypothesis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200">
                <a:solidFill>
                  <a:schemeClr val="lt1"/>
                </a:solidFill>
              </a:rPr>
              <a:t>Gender-based pay differences are department-specific rather than company-wide, with IT/IS showing the most pronounced gap—particularly among high-performing female employees. Subsequent analysis validated this hypothesis, confirming inequitable pay distribution concentrated within IT/IS.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</a:rPr>
              <a:t>Data Cleaning &amp; Key Metrics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952500" y="4194725"/>
            <a:ext cx="7239000" cy="5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200">
                <a:solidFill>
                  <a:schemeClr val="lt1"/>
                </a:solidFill>
                <a:highlight>
                  <a:schemeClr val="accent3"/>
                </a:highlight>
              </a:rPr>
              <a:t>Observation: To ensure analytical integrity, the dataset was cleaned and refined—filling missing values, standardizing</a:t>
            </a:r>
            <a:r>
              <a:rPr lang="en-CA" sz="1200">
                <a:solidFill>
                  <a:schemeClr val="lt1"/>
                </a:solidFill>
                <a:highlight>
                  <a:schemeClr val="accent3"/>
                </a:highlight>
              </a:rPr>
              <a:t> </a:t>
            </a:r>
            <a:r>
              <a:rPr lang="en-CA" sz="1200">
                <a:solidFill>
                  <a:schemeClr val="lt1"/>
                </a:solidFill>
                <a:highlight>
                  <a:schemeClr val="accent3"/>
                </a:highlight>
              </a:rPr>
              <a:t>position IDs,</a:t>
            </a:r>
            <a:r>
              <a:rPr lang="en-CA" sz="1200">
                <a:solidFill>
                  <a:schemeClr val="lt1"/>
                </a:solidFill>
                <a:highlight>
                  <a:schemeClr val="accent3"/>
                </a:highlight>
              </a:rPr>
              <a:t> </a:t>
            </a:r>
            <a:r>
              <a:rPr lang="en-CA" sz="1200">
                <a:solidFill>
                  <a:schemeClr val="lt1"/>
                </a:solidFill>
                <a:highlight>
                  <a:schemeClr val="accent3"/>
                </a:highlight>
              </a:rPr>
              <a:t>and department assignments to enable accurate salary comparisons.</a:t>
            </a:r>
            <a:endParaRPr sz="1200">
              <a:solidFill>
                <a:schemeClr val="lt1"/>
              </a:solidFill>
              <a:highlight>
                <a:schemeClr val="accent3"/>
              </a:highlight>
            </a:endParaRPr>
          </a:p>
        </p:txBody>
      </p:sp>
      <p:graphicFrame>
        <p:nvGraphicFramePr>
          <p:cNvPr id="292" name="Google Shape;292;p15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{221B72B0-798A-450E-9201-DB03A6C07837}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Metric</a:t>
                      </a:r>
                      <a:endParaRPr b="1"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Description</a:t>
                      </a:r>
                      <a:endParaRPr b="1"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</a:t>
                      </a:r>
                      <a:endParaRPr b="1"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Mean Gender Pay Gap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Average female-to-male salary difference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−4.9%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Departmental Gap (IT/IS)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Female “Exceeds” vs. Male “Exceeds”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−46.7%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Performance Alignment Ratio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Female </a:t>
                      </a: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“Exceeds” vs. </a:t>
                      </a: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“Fully Meets” 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−13%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Pay Dispersion (SD)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M: CA$35,019 vs F: CA$20,889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Higher variance for males</a:t>
                      </a:r>
                      <a:endParaRPr sz="1200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</a:rPr>
              <a:t>Gender Pay Gap % by Department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6452400" y="2154825"/>
            <a:ext cx="1881900" cy="26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CA" sz="1200">
                <a:solidFill>
                  <a:schemeClr val="lt1"/>
                </a:solidFill>
              </a:rPr>
              <a:t>Insight: </a:t>
            </a:r>
            <a:r>
              <a:rPr lang="en-CA" sz="1200">
                <a:solidFill>
                  <a:schemeClr val="lt1"/>
                </a:solidFill>
              </a:rPr>
              <a:t>the chart shows uneven pay equity across departments. IT/IS displays the widest gap, where female top performers earn far less than their male counterparts. Other areas remain closer to parity, suggesting the issue is concentrated rather than systemic.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1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350" y="1451025"/>
            <a:ext cx="5418459" cy="335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</a:rPr>
              <a:t>Pay Gap vs. Performance Alignment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6290825" y="2550125"/>
            <a:ext cx="2110800" cy="23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CA" sz="1200">
                <a:solidFill>
                  <a:schemeClr val="lt1"/>
                </a:solidFill>
              </a:rPr>
              <a:t>Insight:</a:t>
            </a:r>
            <a:r>
              <a:rPr lang="en-CA" sz="1200">
                <a:solidFill>
                  <a:schemeClr val="lt1"/>
                </a:solidFill>
              </a:rPr>
              <a:t> Despite outperforming expectations, female “Exceeds” employees in IT/IS earn less than both their male peers and female “Fully Meets” performers. This indicates pay-for-performance misalignment rather than a universal gender gap.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306" name="Google Shape;306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725" y="1409330"/>
            <a:ext cx="5581776" cy="345139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7"/>
          <p:cNvSpPr/>
          <p:nvPr/>
        </p:nvSpPr>
        <p:spPr>
          <a:xfrm>
            <a:off x="2668275" y="4046225"/>
            <a:ext cx="254100" cy="13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2820675" y="2807975"/>
            <a:ext cx="171600" cy="507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4770125" y="2903225"/>
            <a:ext cx="171600" cy="507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4744725" y="2763375"/>
            <a:ext cx="641400" cy="13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4693925" y="2096775"/>
            <a:ext cx="101700" cy="71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2693525" y="2084075"/>
            <a:ext cx="171600" cy="2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>
            <p:ph type="title"/>
          </p:nvPr>
        </p:nvSpPr>
        <p:spPr>
          <a:xfrm>
            <a:off x="1303800" y="598575"/>
            <a:ext cx="7030500" cy="7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lt1"/>
                </a:solidFill>
              </a:rPr>
              <a:t>Next Steps for Sustainable Pay Equity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8" name="Google Shape;318;p18"/>
          <p:cNvSpPr txBox="1"/>
          <p:nvPr>
            <p:ph idx="1" type="body"/>
          </p:nvPr>
        </p:nvSpPr>
        <p:spPr>
          <a:xfrm>
            <a:off x="1303800" y="1517400"/>
            <a:ext cx="3430500" cy="19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200">
                <a:solidFill>
                  <a:schemeClr val="lt1"/>
                </a:solidFill>
              </a:rPr>
              <a:t>Immediate Actions: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CA" sz="1200">
                <a:solidFill>
                  <a:schemeClr val="lt1"/>
                </a:solidFill>
              </a:rPr>
              <a:t>Conduct a </a:t>
            </a:r>
            <a:r>
              <a:rPr b="1" lang="en-CA" sz="1200">
                <a:solidFill>
                  <a:schemeClr val="lt1"/>
                </a:solidFill>
              </a:rPr>
              <a:t>compensation audit</a:t>
            </a:r>
            <a:r>
              <a:rPr lang="en-CA" sz="1200">
                <a:solidFill>
                  <a:schemeClr val="lt1"/>
                </a:solidFill>
              </a:rPr>
              <a:t> for IT/IS to validate pay progression fairness.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CA" sz="1200">
                <a:solidFill>
                  <a:schemeClr val="lt1"/>
                </a:solidFill>
              </a:rPr>
              <a:t>Reassess </a:t>
            </a:r>
            <a:r>
              <a:rPr b="1" lang="en-CA" sz="1200">
                <a:solidFill>
                  <a:schemeClr val="lt1"/>
                </a:solidFill>
              </a:rPr>
              <a:t>performance calibration</a:t>
            </a:r>
            <a:r>
              <a:rPr lang="en-CA" sz="1200">
                <a:solidFill>
                  <a:schemeClr val="lt1"/>
                </a:solidFill>
              </a:rPr>
              <a:t> to ensure consistency in pay outcomes.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CA" sz="1200">
                <a:solidFill>
                  <a:schemeClr val="lt1"/>
                </a:solidFill>
              </a:rPr>
              <a:t>Establish an </a:t>
            </a:r>
            <a:r>
              <a:rPr b="1" lang="en-CA" sz="1200">
                <a:solidFill>
                  <a:schemeClr val="lt1"/>
                </a:solidFill>
              </a:rPr>
              <a:t>exception report</a:t>
            </a:r>
            <a:r>
              <a:rPr lang="en-CA" sz="1200">
                <a:solidFill>
                  <a:schemeClr val="lt1"/>
                </a:solidFill>
              </a:rPr>
              <a:t> to flag discrepancies in pay progression across gender and rating.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19" name="Google Shape;319;p18"/>
          <p:cNvSpPr txBox="1"/>
          <p:nvPr>
            <p:ph idx="2" type="body"/>
          </p:nvPr>
        </p:nvSpPr>
        <p:spPr>
          <a:xfrm>
            <a:off x="4903800" y="1517400"/>
            <a:ext cx="3430500" cy="19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200">
                <a:solidFill>
                  <a:schemeClr val="lt1"/>
                </a:solidFill>
              </a:rPr>
              <a:t>Strategic Initiatives: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CA" sz="1200">
                <a:solidFill>
                  <a:schemeClr val="lt1"/>
                </a:solidFill>
              </a:rPr>
              <a:t>Implement </a:t>
            </a:r>
            <a:r>
              <a:rPr b="1" lang="en-CA" sz="1200">
                <a:solidFill>
                  <a:schemeClr val="lt1"/>
                </a:solidFill>
              </a:rPr>
              <a:t>bias-awareness training</a:t>
            </a:r>
            <a:r>
              <a:rPr lang="en-CA" sz="1200">
                <a:solidFill>
                  <a:schemeClr val="lt1"/>
                </a:solidFill>
              </a:rPr>
              <a:t> for people managers.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CA" sz="1200">
                <a:solidFill>
                  <a:schemeClr val="lt1"/>
                </a:solidFill>
              </a:rPr>
              <a:t>Integrate </a:t>
            </a:r>
            <a:r>
              <a:rPr b="1" lang="en-CA" sz="1200">
                <a:solidFill>
                  <a:schemeClr val="lt1"/>
                </a:solidFill>
              </a:rPr>
              <a:t>pay equity metrics</a:t>
            </a:r>
            <a:r>
              <a:rPr lang="en-CA" sz="1200">
                <a:solidFill>
                  <a:schemeClr val="lt1"/>
                </a:solidFill>
              </a:rPr>
              <a:t> into HR dashboards for continuous monitoring.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CA" sz="1200">
                <a:solidFill>
                  <a:schemeClr val="lt1"/>
                </a:solidFill>
              </a:rPr>
              <a:t>Align compensation bands with </a:t>
            </a:r>
            <a:r>
              <a:rPr b="1" lang="en-CA" sz="1200">
                <a:solidFill>
                  <a:schemeClr val="lt1"/>
                </a:solidFill>
              </a:rPr>
              <a:t>external market benchmarking</a:t>
            </a:r>
            <a:r>
              <a:rPr lang="en-CA" sz="1200">
                <a:solidFill>
                  <a:schemeClr val="lt1"/>
                </a:solidFill>
              </a:rPr>
              <a:t> and internal compa-ratio targets.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1303800" y="3685425"/>
            <a:ext cx="7030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Addressing this pay inequity will strengthen retention and employer brand equity at Splash Technologies.</a:t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Embedding People Analytics into compensation strategy ensures equitable pay structures that reward true performance and reinforce fairness across departments. </a:t>
            </a:r>
            <a:endParaRPr sz="12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